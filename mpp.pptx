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0B8A9"/>
          </a:solidFill>
          <a:ln cap="flat" cmpd="sng" w="12700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274320" y="320040"/>
            <a:ext cx="109800" cy="109800"/>
          </a:xfrm>
          <a:prstGeom prst="ellipse">
            <a:avLst/>
          </a:prstGeom>
          <a:solidFill>
            <a:srgbClr val="00B8A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502920" y="320040"/>
            <a:ext cx="109800" cy="109800"/>
          </a:xfrm>
          <a:prstGeom prst="ellipse">
            <a:avLst/>
          </a:prstGeom>
          <a:solidFill>
            <a:srgbClr val="5E60CE">
              <a:alpha val="6000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/>
          <p:nvPr/>
        </p:nvSpPr>
        <p:spPr>
          <a:xfrm>
            <a:off x="731520" y="320040"/>
            <a:ext cx="109800" cy="109800"/>
          </a:xfrm>
          <a:prstGeom prst="ellipse">
            <a:avLst/>
          </a:prstGeom>
          <a:solidFill>
            <a:srgbClr val="5E60CE">
              <a:alpha val="6000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"/>
          <p:cNvSpPr/>
          <p:nvPr/>
        </p:nvSpPr>
        <p:spPr>
          <a:xfrm>
            <a:off x="960120" y="320040"/>
            <a:ext cx="109800" cy="109800"/>
          </a:xfrm>
          <a:prstGeom prst="ellipse">
            <a:avLst/>
          </a:prstGeom>
          <a:solidFill>
            <a:srgbClr val="5E60CE">
              <a:alpha val="6000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548640" y="822960"/>
            <a:ext cx="8046600" cy="347460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914400" y="1005840"/>
            <a:ext cx="7315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Маркетплейс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цифровых товаров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914400" y="2743200"/>
            <a:ext cx="731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A9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00B8A9"/>
                </a:solidFill>
                <a:latin typeface="Calibri"/>
                <a:ea typeface="Calibri"/>
                <a:cs typeface="Calibri"/>
                <a:sym typeface="Calibri"/>
              </a:rPr>
              <a:t>Разработка прототипа приложения для IT-компании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914400" y="3703320"/>
            <a:ext cx="4114800" cy="36600"/>
          </a:xfrm>
          <a:prstGeom prst="rect">
            <a:avLst/>
          </a:prstGeom>
          <a:solidFill>
            <a:srgbClr val="00B8A9"/>
          </a:solidFill>
          <a:ln cap="flat" cmpd="sng" w="12700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1069850" y="3703315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Сочинский государственный университет ·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498080" y="182880"/>
            <a:ext cx="1463100" cy="1463100"/>
          </a:xfrm>
          <a:prstGeom prst="ellipse">
            <a:avLst/>
          </a:prstGeom>
          <a:solidFill>
            <a:srgbClr val="00B8A9">
              <a:alpha val="1490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955280" y="548640"/>
            <a:ext cx="914400" cy="914400"/>
          </a:xfrm>
          <a:prstGeom prst="ellipse">
            <a:avLst/>
          </a:prstGeom>
          <a:solidFill>
            <a:srgbClr val="5E60CE">
              <a:alpha val="25099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7223760" y="3474720"/>
            <a:ext cx="1645800" cy="1645800"/>
          </a:xfrm>
          <a:prstGeom prst="ellipse">
            <a:avLst/>
          </a:prstGeom>
          <a:solidFill>
            <a:srgbClr val="5E60CE">
              <a:alpha val="1490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проекта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834640" cy="10972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Санкции и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Отключение SWIFT и международных карт создало дефицит платёжной инфраструктуры для миллионов пользователей РФ.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34440"/>
            <a:ext cx="2834640" cy="109728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рынка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цифровых товаров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212848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на ключи активации, игровые привилегии и подписки растёт — особенно среди молодёжи 14–25 лет.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23444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234440"/>
            <a:ext cx="2834640" cy="10972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безопасных P2P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212848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платформы не предлагают одновременно анонимность, мультивалютность и escrow-защиту сделок.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нуждается в надёжной платформе с верифицированными продавцами, escrow-защитой и гибкими методами оплаты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цель проекта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9222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Платёжная дискриминация — нет инструментов для расчётов без международных карт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67004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3347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 доверия — нет автоматизированного escrow в P2P-сделках с цифровыми товарами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511296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47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Непрозрачность продавцов — отсутствие верификации ведёт к мошенничеству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рабочий прототип международного маркетплейса цифровых товаров,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обеспечивающего: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2606040"/>
            <a:ext cx="201168" cy="201168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5786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Обязательная верификация продавцов по паспорту (KYC)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3264408"/>
            <a:ext cx="201168" cy="201168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23697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Мультивалютные расчёты: карты РФ + крипто для международных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3922776"/>
            <a:ext cx="201168" cy="201168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8953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Автоматизированный escrow-механизм (48ч холдинг)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4581144"/>
            <a:ext cx="201168" cy="201168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45537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Минимальные издержки (pay-as-you-go, &lt; $15/год)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национальными целями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73152" cy="80467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«Экономика данных и цифровая трансформация»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пример построения serverless-платформы цифровой торговли на российской аудитории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804672"/>
          </a:xfrm>
          <a:prstGeom prst="rect">
            <a:avLst/>
          </a:prstGeom>
          <a:solidFill>
            <a:srgbClr val="EEF6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21408"/>
            <a:ext cx="73152" cy="804672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67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«Эффективная и конкурентная экономика»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транзакционных издержек для микропредпринимателей, автоматизация P2P-сделок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8595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54096"/>
            <a:ext cx="73152" cy="80467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998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«Кадры»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4381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 спрос на компетенции в области serverless-разработки, платёжной интеграции, UX/UI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986784"/>
            <a:ext cx="8595360" cy="804672"/>
          </a:xfrm>
          <a:prstGeom prst="rect">
            <a:avLst/>
          </a:prstGeom>
          <a:solidFill>
            <a:srgbClr val="EEF6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86784"/>
            <a:ext cx="73152" cy="804672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32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«Цифровые финансовые активы»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Легитимное использование криптовалют (ФЗ №259-ФЗ) как инструмента оплаты цифровых товаров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маркетплейса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1005840"/>
            <a:ext cx="4023360" cy="96012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651760" y="10058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«Безопасная торговля с верифицированными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продавцами — надёжность через идентификацию»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2011680" cy="2468880"/>
          </a:xfrm>
          <a:prstGeom prst="rect">
            <a:avLst/>
          </a:prstGeom>
          <a:solidFill>
            <a:srgbClr val="1B2E44"/>
          </a:solidFill>
          <a:ln w="15240">
            <a:solidFill>
              <a:srgbClr val="00B8A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94560"/>
            <a:ext cx="2011680" cy="9144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Продавец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проходит KYC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паспорта — обязательное условие для размещения товаров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59152" y="3337560"/>
            <a:ext cx="256032" cy="54864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2194560"/>
            <a:ext cx="2011680" cy="2468880"/>
          </a:xfrm>
          <a:prstGeom prst="rect">
            <a:avLst/>
          </a:prstGeom>
          <a:solidFill>
            <a:srgbClr val="1B2E44"/>
          </a:solidFill>
          <a:ln w="15240">
            <a:solidFill>
              <a:srgbClr val="00B8A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2194560"/>
            <a:ext cx="2011680" cy="9144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331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Покупатель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 и платит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32004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РФ — картой; международные — картой или криптовалютой (USDT и др.)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07992" y="3337560"/>
            <a:ext cx="256032" cy="54864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194560"/>
            <a:ext cx="2011680" cy="2468880"/>
          </a:xfrm>
          <a:prstGeom prst="rect">
            <a:avLst/>
          </a:prstGeom>
          <a:solidFill>
            <a:srgbClr val="1B2E44"/>
          </a:solidFill>
          <a:ln w="15240">
            <a:solidFill>
              <a:srgbClr val="00B8A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194560"/>
            <a:ext cx="2011680" cy="9144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331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Escrow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холдирует 48ч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2004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удерживаются, товар выдаётся автоматически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56832" y="3337560"/>
            <a:ext cx="256032" cy="54864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2194560"/>
            <a:ext cx="2011680" cy="2468880"/>
          </a:xfrm>
          <a:prstGeom prst="rect">
            <a:avLst/>
          </a:prstGeom>
          <a:solidFill>
            <a:srgbClr val="1B2E44"/>
          </a:solidFill>
          <a:ln w="15240">
            <a:solidFill>
              <a:srgbClr val="00B8A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2194560"/>
            <a:ext cx="2011680" cy="9144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331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Продавец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выплату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32004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холдинга средства переводятся вручную продавцу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технологические решения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834640" cy="9144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бэкенд. Обработка заказов, платежей, статусов. Pay-as-you-go, минимальные издержки &lt; $15/год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88720"/>
            <a:ext cx="2834640" cy="91440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FreeKassa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Фиатный шлюз. Карты РФ, электронные кошельки, СБП. Единственный метод оплаты для пользователей из России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188720"/>
            <a:ext cx="2834640" cy="9144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NowPayments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1783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Крипто-шлюз. USDT TRC20 и 300+ криптовалют. Доступен только для международных пользователей (не РФ)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2834640" cy="91440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Escrow-механизм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48-часовое холдирование средств. Автоматическая выдача товара. Защита покупателя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15468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3154680"/>
            <a:ext cx="2834640" cy="9144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— верификация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Продавцы обязаны пройти идентификацию по паспорту. Обязательное условие для публикации товаров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15468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3154680"/>
            <a:ext cx="2834640" cy="91440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фронтенда без тяжёлых фреймворков. Статика из ближайшего CDN-узла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и целевая аудитория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92024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" y="12984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01752" y="201168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цифровых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товаров РФ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301752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~380 млрд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руб./год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58568" y="1188720"/>
            <a:ext cx="1920240" cy="3566160"/>
          </a:xfrm>
          <a:prstGeom prst="rect">
            <a:avLst/>
          </a:prstGeom>
          <a:solidFill>
            <a:srgbClr val="1B2E44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2984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201168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P2P-продажи ключей,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привилегий, подписок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301752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~15–40 млрд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руб./год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88536" y="1188720"/>
            <a:ext cx="1920240" cy="356616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61688" y="12984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61688" y="201168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61688" y="301752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50–150 сделок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/мес. на старте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55664" y="1188720"/>
            <a:ext cx="245973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5664" y="1188720"/>
            <a:ext cx="2459736" cy="7315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298448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1993392"/>
            <a:ext cx="2203704" cy="2743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121408"/>
            <a:ext cx="64008" cy="86868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2139696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Продавцы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1696" y="2514600"/>
            <a:ext cx="2075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Реселлеры ключей, владельцы игровых серверов, фрилансеры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3419856"/>
            <a:ext cx="64008" cy="868680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3438144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1696" y="3813048"/>
            <a:ext cx="2075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Геймеры, молодёжь 14–25 лет, пользователи без международных карт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конкурентов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28600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118872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Plati.market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1143000"/>
            <a:ext cx="118872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143000"/>
            <a:ext cx="118872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lolzteam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118872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1143000"/>
            <a:ext cx="1508760" cy="4572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143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проект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627632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276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Российские карты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1627632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627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03320" y="1627632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627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627632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627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1627632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627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9480" y="1627632"/>
            <a:ext cx="1508760" cy="621792"/>
          </a:xfrm>
          <a:prstGeom prst="rect">
            <a:avLst/>
          </a:prstGeom>
          <a:solidFill>
            <a:srgbClr val="E8FB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62763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2286000"/>
            <a:ext cx="228600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28600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Криптовалюта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14600" y="2286000"/>
            <a:ext cx="11887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2860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03320" y="2286000"/>
            <a:ext cx="11887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22860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286000"/>
            <a:ext cx="11887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2860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2286000"/>
            <a:ext cx="11887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22860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69480" y="2286000"/>
            <a:ext cx="1508760" cy="621792"/>
          </a:xfrm>
          <a:prstGeom prst="rect">
            <a:avLst/>
          </a:prstGeom>
          <a:solidFill>
            <a:srgbClr val="D4F7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22860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интл.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2944368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9443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для продавцов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14600" y="2944368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29443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703320" y="2944368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0" y="29443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2944368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9443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80760" y="2944368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29443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69480" y="2944368"/>
            <a:ext cx="1508760" cy="621792"/>
          </a:xfrm>
          <a:prstGeom prst="rect">
            <a:avLst/>
          </a:prstGeom>
          <a:solidFill>
            <a:srgbClr val="E8FB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294436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" y="3602736"/>
            <a:ext cx="228600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60273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Escrow-механизм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14600" y="3602736"/>
            <a:ext cx="11887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0" y="36027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703320" y="3602736"/>
            <a:ext cx="11887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36027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92040" y="3602736"/>
            <a:ext cx="11887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36027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080760" y="3602736"/>
            <a:ext cx="11887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0" y="36027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269480" y="3602736"/>
            <a:ext cx="1508760" cy="621792"/>
          </a:xfrm>
          <a:prstGeom prst="rect">
            <a:avLst/>
          </a:prstGeom>
          <a:solidFill>
            <a:srgbClr val="D4F7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0" y="360273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" y="4261104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26110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для продавца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514600" y="4261104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0" y="42611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703320" y="4261104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42611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892040" y="4261104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37760" y="42611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080760" y="4261104"/>
            <a:ext cx="1188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26480" y="42611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269480" y="4261104"/>
            <a:ext cx="1508760" cy="621792"/>
          </a:xfrm>
          <a:prstGeom prst="rect">
            <a:avLst/>
          </a:prstGeom>
          <a:solidFill>
            <a:srgbClr val="E8FB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0" y="426110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SWOT-анализ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206240" cy="384048"/>
          </a:xfrm>
          <a:prstGeom prst="rect">
            <a:avLst/>
          </a:prstGeom>
          <a:solidFill>
            <a:srgbClr val="1E7E3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72768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Мультивалютная модель: карты РФ + крипто для международных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Верификация продавцов по паспорту повышает доверие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Escrow-механизм — технологическая гарантия сделки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Сверхнизкие издержки &lt; $15/год на инфраструктуру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42062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572768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Малая аудитория на старте — нет сетевого эффекта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Ручная выплата продавцам (нет автоматизации)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Нет мобильного приложения и системы отзывов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KYC может отпугнуть часть продавцов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42062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17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447288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Рост рынка игровых цифровых товаров среди молодёжи РФ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Партнёрство с игровыми серверами Minecraft/CS:GO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Масштабирование через премиум-функции продавца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CPA-модели с агрегаторами цифрового контента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17520"/>
            <a:ext cx="420624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017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3447288"/>
            <a:ext cx="3986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Изменение законодательства о крипторасчётах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Копирование модели крупными игроками (FunPay)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Кибербезопасность и возможные атаки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Низкая узнаваемость бренда на начальном этапе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 и монетизация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3566160"/>
          </a:xfrm>
          <a:prstGeom prst="rect">
            <a:avLst/>
          </a:prstGeom>
          <a:solidFill>
            <a:srgbClr val="1B2E44"/>
          </a:solidFill>
          <a:ln w="12700">
            <a:solidFill>
              <a:srgbClr val="00B8A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монетизации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4008" cy="36576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Транзакционная комиссия (фиат)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с успешной сделки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64008" cy="365760"/>
          </a:xfrm>
          <a:prstGeom prst="rect">
            <a:avLst/>
          </a:prstGeom>
          <a:solidFill>
            <a:srgbClr val="05D8C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Транзакционная комиссия (крипто)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0,5% — ниже для стимула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64008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тариф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— регистрация, размещение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64008" cy="36576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Партнёрские интеграции (CPA)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Игровые серверы, контент-площадки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64008" cy="365760"/>
          </a:xfrm>
          <a:prstGeom prst="rect">
            <a:avLst/>
          </a:prstGeom>
          <a:solidFill>
            <a:srgbClr val="05D8C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 для продавца (план)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250–500 руб./мес. — аналитика, выделение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0" y="914400"/>
            <a:ext cx="3337560" cy="3566160"/>
          </a:xfrm>
          <a:prstGeom prst="rect">
            <a:avLst/>
          </a:prstGeom>
          <a:solidFill>
            <a:srgbClr val="1B2E44"/>
          </a:solidFill>
          <a:ln w="12700">
            <a:solidFill>
              <a:srgbClr val="5E60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1005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на старте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23560" y="1508760"/>
            <a:ext cx="3108960" cy="438912"/>
          </a:xfrm>
          <a:prstGeom prst="rect">
            <a:avLst/>
          </a:prstGeom>
          <a:solidFill>
            <a:srgbClr val="152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1508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50–150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15087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сделок/мес.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23560" y="2011680"/>
            <a:ext cx="3108960" cy="438912"/>
          </a:xfrm>
          <a:prstGeom prst="rect">
            <a:avLst/>
          </a:prstGeom>
          <a:solidFill>
            <a:srgbClr val="1E2E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0116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78040" y="20116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комиссия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2514600"/>
            <a:ext cx="3108960" cy="438912"/>
          </a:xfrm>
          <a:prstGeom prst="rect">
            <a:avLst/>
          </a:prstGeom>
          <a:solidFill>
            <a:srgbClr val="152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514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25146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маржинальность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23560" y="3017520"/>
            <a:ext cx="3108960" cy="438912"/>
          </a:xfrm>
          <a:prstGeom prst="rect">
            <a:avLst/>
          </a:prstGeom>
          <a:solidFill>
            <a:srgbClr val="1E2E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0175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$15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78040" y="30175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в год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23560" y="3520440"/>
            <a:ext cx="3108960" cy="438912"/>
          </a:xfrm>
          <a:prstGeom prst="rect">
            <a:avLst/>
          </a:prstGeom>
          <a:solidFill>
            <a:srgbClr val="1520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300–500₽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78040" y="35204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безубыточности крайне низкий: достаточно ~$10–15 комиссий в год для покрытия всех расходов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проекта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0" cy="7315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103120"/>
            <a:ext cx="329184" cy="329184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86868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43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дней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291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3291840"/>
            <a:ext cx="2743200" cy="7315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ТЗ, макет интерфейса, требования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103120"/>
            <a:ext cx="329184" cy="329184"/>
          </a:xfrm>
          <a:prstGeom prst="ellipse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143000"/>
            <a:ext cx="2743200" cy="868680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1143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дней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2468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Программная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3291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3291840"/>
            <a:ext cx="2743200" cy="73152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версия: Workers, escrow, платёжные шлюзы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2103120"/>
            <a:ext cx="329184" cy="329184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143000"/>
            <a:ext cx="2743200" cy="86868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1143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дня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63640" y="2468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и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доработка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291840"/>
            <a:ext cx="2743200" cy="7315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прототип, готовый к демонстрации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E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длительность: 18 календарных дней  |  Все задачи выполнены в полном объёме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 и масштабирование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91440" cy="107899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Игровое сообщество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Продвижение на форумах Minecraft, CS:GO, Steam. Партнёрства с владельцами серверов как первыми продавцами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23160"/>
            <a:ext cx="91440" cy="1078992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96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Реферальная программа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Продавцы приглашают покупателей — бонус к комиссии. Виральный рост через сеть доверия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57600"/>
            <a:ext cx="91440" cy="107899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30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Контент-маркетинг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Telegram-канал и гайды: «Как безопасно продавать цифровые товары без паспорта»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solidFill>
            <a:srgbClr val="1B2E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764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ИП для коммерческого запуска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267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Автоматизированный интерфейс добавления товаров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7706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рейтингов и отзывов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29184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273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(iOS/Android)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794760"/>
            <a:ext cx="164592" cy="164592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776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FreeKassa + NowPayments 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4297680"/>
            <a:ext cx="164592" cy="164592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Escrow-механизм и выдача ключей ✓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005840"/>
            <a:ext cx="3200400" cy="3840480"/>
          </a:xfrm>
          <a:prstGeom prst="rect">
            <a:avLst/>
          </a:prstGeom>
          <a:solidFill>
            <a:srgbClr val="1B2E44"/>
          </a:solidFill>
          <a:ln w="19050">
            <a:solidFill>
              <a:srgbClr val="00B8A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06040" y="1143000"/>
            <a:ext cx="914400" cy="91440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Песоцкий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Егор Сергеевич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2880360"/>
            <a:ext cx="2560320" cy="347472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проекта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3337560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331012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приоритетов разработки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3685032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0512" y="365760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Cloudflare Workers/Pages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0" y="4032504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400507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FreeKassa и NowPayments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0" y="4379976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4352544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escrow и панели управления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0" y="4727448"/>
            <a:ext cx="91440" cy="914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4700016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для трёх пользовательских сценариев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1005840"/>
            <a:ext cx="3200400" cy="3840480"/>
          </a:xfrm>
          <a:prstGeom prst="rect">
            <a:avLst/>
          </a:prstGeom>
          <a:solidFill>
            <a:srgbClr val="1B2E44"/>
          </a:solidFill>
          <a:ln w="19050">
            <a:solidFill>
              <a:srgbClr val="5E60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1143000"/>
            <a:ext cx="914400" cy="914400"/>
          </a:xfrm>
          <a:prstGeom prst="ellipse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Лешкашели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Арсен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15000" y="2880360"/>
            <a:ext cx="2560320" cy="347472"/>
          </a:xfrm>
          <a:prstGeom prst="rect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880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/ исследователь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77840" y="3337560"/>
            <a:ext cx="91440" cy="91440"/>
          </a:xfrm>
          <a:prstGeom prst="ellipse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3310128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и платёжного поведения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3685032"/>
            <a:ext cx="91440" cy="91440"/>
          </a:xfrm>
          <a:prstGeom prst="ellipse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65760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конкурентов (FunPay и др.)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4032504"/>
            <a:ext cx="91440" cy="91440"/>
          </a:xfrm>
          <a:prstGeom prst="ellipse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400507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 мультивалютной архитектуры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4379976"/>
            <a:ext cx="91440" cy="91440"/>
          </a:xfrm>
          <a:prstGeom prst="ellipse">
            <a:avLst/>
          </a:prstGeom>
          <a:solidFill>
            <a:srgbClr val="5E60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4352544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модель и расчёт KPI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91440"/>
            <a:ext cx="2286000" cy="2286000"/>
          </a:xfrm>
          <a:prstGeom prst="ellipse">
            <a:avLst/>
          </a:prstGeom>
          <a:solidFill>
            <a:srgbClr val="00B8A9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1645920" cy="1645920"/>
          </a:xfrm>
          <a:prstGeom prst="ellipse">
            <a:avLst/>
          </a:prstGeom>
          <a:solidFill>
            <a:srgbClr val="5E60CE">
              <a:alpha val="1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ценность проекта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2743200" cy="1536192"/>
          </a:xfrm>
          <a:prstGeom prst="rect">
            <a:avLst/>
          </a:prstGeom>
          <a:solidFill>
            <a:srgbClr val="1B2E44"/>
          </a:solidFill>
          <a:ln w="12700">
            <a:solidFill>
              <a:srgbClr val="00B8A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1612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Рабочий прототип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интеграция FreeKassa, NowPayments и escrow-механизма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536192"/>
          </a:xfrm>
          <a:prstGeom prst="rect">
            <a:avLst/>
          </a:prstGeom>
          <a:solidFill>
            <a:srgbClr val="1B2E44"/>
          </a:solidFill>
          <a:ln w="12700">
            <a:solidFill>
              <a:srgbClr val="00B8A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1612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Защита покупателей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61848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48-часовой холд гарантирует исполнение — без ручного модерирования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1536192"/>
          </a:xfrm>
          <a:prstGeom prst="rect">
            <a:avLst/>
          </a:prstGeom>
          <a:solidFill>
            <a:srgbClr val="1B2E44"/>
          </a:solidFill>
          <a:ln w="12700">
            <a:solidFill>
              <a:srgbClr val="00B8A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1612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Верификация продавцов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61848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 паспортный KYC повышает доверие к платформе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743200" cy="1536192"/>
          </a:xfrm>
          <a:prstGeom prst="rect">
            <a:avLst/>
          </a:prstGeom>
          <a:solidFill>
            <a:srgbClr val="1B2E44"/>
          </a:solidFill>
          <a:ln w="12700">
            <a:solidFill>
              <a:srgbClr val="5E60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85292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Гибкие методы оплаты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331012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 РФ для местных; криптовалюта (300+) для международных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743200"/>
            <a:ext cx="2743200" cy="1536192"/>
          </a:xfrm>
          <a:prstGeom prst="rect">
            <a:avLst/>
          </a:prstGeom>
          <a:solidFill>
            <a:srgbClr val="1B2E44"/>
          </a:solidFill>
          <a:ln w="12700">
            <a:solidFill>
              <a:srgbClr val="5E60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0128" y="285292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Сверхнизкие издержки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0128" y="331012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$15/год на всю инфраструктуру — serverless модель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2743200" cy="1536192"/>
          </a:xfrm>
          <a:prstGeom prst="rect">
            <a:avLst/>
          </a:prstGeom>
          <a:solidFill>
            <a:srgbClr val="1B2E44"/>
          </a:solidFill>
          <a:ln w="12700">
            <a:solidFill>
              <a:srgbClr val="5E60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36208" y="285292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Потенциал роста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3310128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через премиум и партнёрские программы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solidFill>
            <a:srgbClr val="00B8A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«Надёжность через верификацию, безопасность через технологию»  ·  Сочинский государственный университет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