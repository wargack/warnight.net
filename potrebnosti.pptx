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9CF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Понятие потребности.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потребностей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5943600" cy="502920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как субъект деятельности и индивидуальность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Программирование · ПТУ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365760"/>
            <a:ext cx="2560320" cy="2560320"/>
          </a:xfrm>
          <a:prstGeom prst="ellipse">
            <a:avLst/>
          </a:prstGeom>
          <a:solidFill>
            <a:srgbClr val="4F9CF9">
              <a:alpha val="12000"/>
            </a:srgbClr>
          </a:solidFill>
          <a:ln w="25400">
            <a:solidFill>
              <a:srgbClr val="4F9CF9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828800"/>
            <a:ext cx="1828800" cy="1828800"/>
          </a:xfrm>
          <a:prstGeom prst="ellipse">
            <a:avLst/>
          </a:prstGeom>
          <a:solidFill>
            <a:srgbClr val="38BFA1">
              <a:alpha val="18000"/>
            </a:srgbClr>
          </a:solidFill>
          <a:ln w="25400">
            <a:solidFill>
              <a:srgbClr val="38BFA1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потребность?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4F9CF9">
              <a:alpha val="12000"/>
            </a:srgbClr>
          </a:solidFill>
          <a:ln w="254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pPr indent="0" marL="0">
              <a:buNone/>
            </a:pPr>
            <a:r>
              <a:rPr lang="en-US" sz="18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нужда или недостаток в чём-либо, необходимом для жизни и деятельности человека.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активности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5844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побуждают человека к действию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Переживание нужды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5844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ощущает дискомфорт, пока потребность не удовлетворена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743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Цикличность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35844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удовлетворения потребность возникает снова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свойства потребностей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640080" cy="7315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86868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161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потребность направлена на конкретный предмет (еда, общение, знания...)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640080" cy="7315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187452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Осознанность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2219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может осознавать или не осознавать свои потребности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640080" cy="7315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80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1560" y="288036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Динамичность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278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меняются и развиваются на протяжении жизни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640080" cy="7315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86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3886200"/>
            <a:ext cx="7772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887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Индивидуальность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336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человека — свой набор и сила потребностей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Пирамида потребностей Маслоу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(Иерархия потребностей, 1943)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4206240"/>
            <a:ext cx="6400800" cy="594360"/>
          </a:xfrm>
          <a:prstGeom prst="rect">
            <a:avLst/>
          </a:prstGeom>
          <a:solidFill>
            <a:srgbClr val="E85F5C"/>
          </a:solidFill>
          <a:ln w="19050">
            <a:solidFill>
              <a:srgbClr val="1A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42062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Физиологические  —  еда, сон, воздух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5486400" cy="594360"/>
          </a:xfrm>
          <a:prstGeom prst="rect">
            <a:avLst/>
          </a:prstGeom>
          <a:solidFill>
            <a:srgbClr val="E8935C"/>
          </a:solidFill>
          <a:ln w="19050">
            <a:solidFill>
              <a:srgbClr val="1A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204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 —  защита, стабильность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4572000" cy="594360"/>
          </a:xfrm>
          <a:prstGeom prst="rect">
            <a:avLst/>
          </a:prstGeom>
          <a:solidFill>
            <a:srgbClr val="F9C846"/>
          </a:solidFill>
          <a:ln w="19050">
            <a:solidFill>
              <a:srgbClr val="1A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834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Любовь и принятие  —  дружба, семья, общение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148840"/>
            <a:ext cx="3657600" cy="594360"/>
          </a:xfrm>
          <a:prstGeom prst="rect">
            <a:avLst/>
          </a:prstGeom>
          <a:solidFill>
            <a:srgbClr val="38BFA1"/>
          </a:solidFill>
          <a:ln w="19050">
            <a:solidFill>
              <a:srgbClr val="1A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488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  —  уважение, статус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2743200" cy="594360"/>
          </a:xfrm>
          <a:prstGeom prst="rect">
            <a:avLst/>
          </a:prstGeom>
          <a:solidFill>
            <a:srgbClr val="4F9CF9"/>
          </a:solidFill>
          <a:ln w="19050">
            <a:solidFill>
              <a:srgbClr val="1A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Самореализация  —  творчество, рост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417320"/>
            <a:ext cx="228600" cy="34290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417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Высшие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480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Базовые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потребностей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502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происхождению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07592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256032" cy="25603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4447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Биологические (врождённые)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256032" cy="25603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4505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(из общества)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47872"/>
            <a:ext cx="256032" cy="25603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4564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Духовные (культура, смысл)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502920"/>
          </a:xfrm>
          <a:prstGeom prst="rect">
            <a:avLst/>
          </a:prstGeom>
          <a:solidFill>
            <a:srgbClr val="38BFA1"/>
          </a:solidFill>
          <a:ln w="12700">
            <a:solidFill>
              <a:srgbClr val="38B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04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сфере жизни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307592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F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536192"/>
            <a:ext cx="256032" cy="256032"/>
          </a:xfrm>
          <a:prstGeom prst="ellipse">
            <a:avLst/>
          </a:prstGeom>
          <a:solidFill>
            <a:srgbClr val="38BFA1"/>
          </a:solidFill>
          <a:ln w="12700">
            <a:solidFill>
              <a:srgbClr val="38BF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4447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Материальные (вещи, пища)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542032"/>
            <a:ext cx="256032" cy="256032"/>
          </a:xfrm>
          <a:prstGeom prst="ellipse">
            <a:avLst/>
          </a:prstGeom>
          <a:solidFill>
            <a:srgbClr val="38BFA1"/>
          </a:solidFill>
          <a:ln w="12700">
            <a:solidFill>
              <a:srgbClr val="38BF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4505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Духовные (знания, красота)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547872"/>
            <a:ext cx="256032" cy="256032"/>
          </a:xfrm>
          <a:prstGeom prst="ellipse">
            <a:avLst/>
          </a:prstGeom>
          <a:solidFill>
            <a:srgbClr val="38BFA1"/>
          </a:solidFill>
          <a:ln w="12700">
            <a:solidFill>
              <a:srgbClr val="38BF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34564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(отношения)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804672"/>
            <a:ext cx="2743200" cy="502920"/>
          </a:xfrm>
          <a:prstGeom prst="rect">
            <a:avLst/>
          </a:prstGeom>
          <a:solidFill>
            <a:srgbClr val="8B6FE8"/>
          </a:solidFill>
          <a:ln w="12700">
            <a:solidFill>
              <a:srgbClr val="8B6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804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степени осознания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1307592"/>
            <a:ext cx="27432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6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536192"/>
            <a:ext cx="256032" cy="256032"/>
          </a:xfrm>
          <a:prstGeom prst="ellipse">
            <a:avLst/>
          </a:prstGeom>
          <a:solidFill>
            <a:srgbClr val="8B6FE8"/>
          </a:solidFill>
          <a:ln w="12700">
            <a:solidFill>
              <a:srgbClr val="8B6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144475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Осознанные (мы их знаем)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542032"/>
            <a:ext cx="256032" cy="256032"/>
          </a:xfrm>
          <a:prstGeom prst="ellipse">
            <a:avLst/>
          </a:prstGeom>
          <a:solidFill>
            <a:srgbClr val="8B6FE8"/>
          </a:solidFill>
          <a:ln w="12700">
            <a:solidFill>
              <a:srgbClr val="8B6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24505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Неосознанные (мы их не замечаем)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547872"/>
            <a:ext cx="256032" cy="256032"/>
          </a:xfrm>
          <a:prstGeom prst="ellipse">
            <a:avLst/>
          </a:prstGeom>
          <a:solidFill>
            <a:srgbClr val="8B6FE8"/>
          </a:solidFill>
          <a:ln w="12700">
            <a:solidFill>
              <a:srgbClr val="8B6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34564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Квазипотребности (навязанные)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и деятельность человека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0" y="2377440"/>
            <a:ext cx="1280160" cy="914400"/>
          </a:xfrm>
          <a:prstGeom prst="ellipse">
            <a:avLst/>
          </a:prstGeom>
          <a:solidFill>
            <a:srgbClr val="1A2340">
              <a:alpha val="85000"/>
            </a:srgbClr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2377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0" y="1280160"/>
            <a:ext cx="1463040" cy="7315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(нужда)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2468880"/>
            <a:ext cx="1463040" cy="731520"/>
          </a:xfrm>
          <a:prstGeom prst="rect">
            <a:avLst/>
          </a:prstGeom>
          <a:solidFill>
            <a:srgbClr val="38BFA1"/>
          </a:solidFill>
          <a:ln w="12700">
            <a:solidFill>
              <a:srgbClr val="38BF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(побуждение)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3657600"/>
            <a:ext cx="1463040" cy="731520"/>
          </a:xfrm>
          <a:prstGeom prst="rect">
            <a:avLst/>
          </a:prstGeom>
          <a:solidFill>
            <a:srgbClr val="8B6FE8"/>
          </a:solidFill>
          <a:ln w="12700">
            <a:solidFill>
              <a:srgbClr val="8B6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(действие)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2468880"/>
            <a:ext cx="1463040" cy="73152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(удовлетворение)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85232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468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</a:rPr>
              <a:t>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87168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</a:rPr>
              <a:t>↑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28600" y="822960"/>
            <a:ext cx="1645920" cy="34747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914400"/>
            <a:ext cx="1463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Хочу есть →
ищу еду →
ем →
насытился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цикл завершён!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4F9CF9">
              <a:alpha val="10000"/>
            </a:srgbClr>
          </a:solidFill>
          <a:ln w="12700">
            <a:solidFill>
              <a:srgbClr val="4F9CF9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✅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знаний по теме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вопроса · варианты ответов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1 из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потребность в психологии?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Умение выполнять сложные задачи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594360"/>
          </a:xfrm>
          <a:prstGeom prst="rect">
            <a:avLst/>
          </a:prstGeom>
          <a:solidFill>
            <a:srgbClr val="D6F5E8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Нужда или недостаток в чём-либо, необходимом для жизни  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 делать одно и то же каждый день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Способность к творческому мышлению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2 из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потребности, по Маслоу, являются БАЗОВЫМИ (нижний уровень пирамиды)?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 и уважение со стороны других людей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Самореализация и личностный рост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594360"/>
          </a:xfrm>
          <a:prstGeom prst="rect">
            <a:avLst/>
          </a:prstGeom>
          <a:solidFill>
            <a:srgbClr val="D6F5E8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Физиологические: еда, сон, воздух  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 в красоте и эстетике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3 из 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какому виду потребностей относится желание общаться с друзьями и быть принятым в группе?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0574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Биологические потребности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889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Духовные потребности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594360"/>
          </a:xfrm>
          <a:prstGeom prst="rect">
            <a:avLst/>
          </a:prstGeom>
          <a:solidFill>
            <a:srgbClr val="D6F5E8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потребности  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Материальные потребности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FA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выводы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412480" cy="777240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 — основной двигатель деятельности человека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8412480" cy="777240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659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Маслоу выделил 5 уровней: физиология → безопасность → любовь → признание → самореализация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8412480" cy="777240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26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Потребности делятся по происхождению, сфере и степени осознания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412480" cy="777240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886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 → мотив → деятельность → результат — единый цикл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потребности. Классификация потребностей</dc:title>
  <dc:subject>PptxGenJS Presentation</dc:subject>
  <dc:creator>PptxGenJS</dc:creator>
  <cp:lastModifiedBy>PptxGenJS</cp:lastModifiedBy>
  <cp:revision>1</cp:revision>
  <dcterms:created xsi:type="dcterms:W3CDTF">2026-04-03T08:34:50Z</dcterms:created>
  <dcterms:modified xsi:type="dcterms:W3CDTF">2026-04-03T08:34:50Z</dcterms:modified>
</cp:coreProperties>
</file>